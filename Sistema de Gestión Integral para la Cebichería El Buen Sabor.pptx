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Open Sans SemiBold"/>
      <p:regular r:id="rId22"/>
      <p:bold r:id="rId23"/>
      <p:italic r:id="rId24"/>
      <p:boldItalic r:id="rId25"/>
    </p:embeddedFont>
    <p:embeddedFont>
      <p:font typeface="Open Sans ExtraBold"/>
      <p:bold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OpenSansSemiBold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OpenSansSemiBold-italic.fntdata"/><Relationship Id="rId23" Type="http://schemas.openxmlformats.org/officeDocument/2006/relationships/font" Target="fonts/OpenSa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ExtraBold-bold.fntdata"/><Relationship Id="rId25" Type="http://schemas.openxmlformats.org/officeDocument/2006/relationships/font" Target="fonts/OpenSansSemiBold-boldItalic.fntdata"/><Relationship Id="rId28" Type="http://schemas.openxmlformats.org/officeDocument/2006/relationships/font" Target="fonts/OpenSans-regular.fntdata"/><Relationship Id="rId27" Type="http://schemas.openxmlformats.org/officeDocument/2006/relationships/font" Target="fonts/OpenSans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43ab233b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43ab233b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47.png"/><Relationship Id="rId6" Type="http://schemas.openxmlformats.org/officeDocument/2006/relationships/image" Target="../media/image15.png"/><Relationship Id="rId7" Type="http://schemas.openxmlformats.org/officeDocument/2006/relationships/image" Target="../media/image32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41.png"/><Relationship Id="rId7" Type="http://schemas.openxmlformats.org/officeDocument/2006/relationships/image" Target="../media/image34.png"/><Relationship Id="rId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9.png"/><Relationship Id="rId7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49.png"/><Relationship Id="rId7" Type="http://schemas.openxmlformats.org/officeDocument/2006/relationships/image" Target="../media/image46.png"/><Relationship Id="rId8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9" Type="http://schemas.openxmlformats.org/officeDocument/2006/relationships/image" Target="../media/image42.png"/><Relationship Id="rId5" Type="http://schemas.openxmlformats.org/officeDocument/2006/relationships/image" Target="../media/image23.png"/><Relationship Id="rId6" Type="http://schemas.openxmlformats.org/officeDocument/2006/relationships/image" Target="../media/image49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hyperlink" Target="https://github.com/Seygo0708/SOFTWARE-CEVICHERIA" TargetMode="External"/><Relationship Id="rId6" Type="http://schemas.openxmlformats.org/officeDocument/2006/relationships/image" Target="../media/image45.png"/><Relationship Id="rId7" Type="http://schemas.openxmlformats.org/officeDocument/2006/relationships/image" Target="../media/image48.png"/><Relationship Id="rId8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325" y="649775"/>
            <a:ext cx="10366749" cy="55584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95500" y="1126033"/>
            <a:ext cx="80010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SISTEMA DE GESTIÓN INTEGRAL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2840533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0F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Cebichería "El Buen Sabor"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491954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0F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UNIVERSIDAD CONTINENTAL</a:t>
            </a:r>
            <a:r>
              <a:rPr b="0" i="0" lang="en-US" sz="1800" u="none" cap="none" strike="noStrike">
                <a:solidFill>
                  <a:srgbClr val="F0F0F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| Proyecto Final - Diseño de Software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286000" y="4543425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0F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Castro Perez Seygo Max • Saravia Chavez Arny Ruben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286000" y="5137695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0F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Torres Pisco Elion • Zapana Benito Mijhael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7551"/>
            <a:ext cx="5334000" cy="3613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02222"/>
            <a:ext cx="5334000" cy="364405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04875" y="2603301"/>
            <a:ext cx="49506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1E3A"/>
                </a:solidFill>
                <a:latin typeface="Montserrat"/>
                <a:ea typeface="Montserrat"/>
                <a:cs typeface="Montserrat"/>
                <a:sym typeface="Montserrat"/>
              </a:rPr>
              <a:t>Situación Actual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222426"/>
            <a:ext cx="47148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La Cebichería opera principalmente de forma manual, lo que genera: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19875" y="2587972"/>
            <a:ext cx="49506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1E3A"/>
                </a:solidFill>
                <a:latin typeface="Montserrat"/>
                <a:ea typeface="Montserrat"/>
                <a:cs typeface="Montserrat"/>
                <a:sym typeface="Montserrat"/>
              </a:rPr>
              <a:t>Solución Propuesta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19875" y="3207097"/>
            <a:ext cx="4714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Implementar una plataforma automatizada que integra: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63187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028700" y="401383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95375" y="4014787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Retrasos en la atención al cliente.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28700" y="438337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95375" y="4384327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Errores en el registro de ventas (libretas).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28700" y="475291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95375" y="4753867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Falta de control real sobre el inventario.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28700" y="512245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95375" y="5123408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Dificultad para obtener reportes precisos.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9875" y="261654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743700" y="37547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10375" y="3755677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Ventas: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Registro rápido y cálculo automático.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743700" y="412426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810375" y="4125217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Inventario: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Actualización en tiempo real.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743700" y="449380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810375" y="4494758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Roles: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Cajero, Cliente, Almacenero, Admin.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743700" y="486334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810375" y="4864298"/>
            <a:ext cx="4524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Reportes: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Generación automática para la toma de decisiones.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Análisis del Negocio y Objetivos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3605"/>
            <a:ext cx="35242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653605"/>
            <a:ext cx="35242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653605"/>
            <a:ext cx="35242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3605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653605"/>
            <a:ext cx="3524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14375" y="5177730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1. Registrar Venta (POS)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476750" y="5177730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2. Registrar Pedido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239125" y="5177730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3. Emitir Comprobante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Casos de Uso: Gestión de Ventas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2653600"/>
            <a:ext cx="3524251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3125" y="2653600"/>
            <a:ext cx="1985726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6250" y="2653600"/>
            <a:ext cx="3524251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3605"/>
            <a:ext cx="35242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653605"/>
            <a:ext cx="35242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653605"/>
            <a:ext cx="35242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3605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53605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653605"/>
            <a:ext cx="3524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14375" y="5177730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4. Gestionar Inventario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476750" y="5177730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5. Recibir Insumos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239125" y="5177730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6. Consultar Reportes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Casos de Uso: Inventario y Reportes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2653600"/>
            <a:ext cx="35242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33875" y="2653600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6250" y="2653600"/>
            <a:ext cx="3524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193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280898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Gestión de Usuarios y Clientes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3180457"/>
            <a:ext cx="5334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El administrador tiene control total sobre los actores y la base de clientes del sistema: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95325" y="381946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3820417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Gestionar Usuarios: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Creación y edición de perfiles para Cajeros y Almaceneros, asignando roles y permisos de seguridad.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95325" y="446329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4464248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Gestionar Clientes: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Mantenimiento de la base de datos de clientes frecuentes para agilizar la facturación y aplicar promociones.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Casos de Uso: Administración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500" y="2219325"/>
            <a:ext cx="5334001" cy="38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1423"/>
            <a:ext cx="3492400" cy="3085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81423"/>
            <a:ext cx="3492549" cy="3085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581423"/>
            <a:ext cx="3492400" cy="308580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94228" y="3591073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Estructura del Modelo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66775" y="4000648"/>
            <a:ext cx="29018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MCUN:</a:t>
            </a: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 Modelo de Casos de Uso del Negocio.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MCUS:</a:t>
            </a: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 Modelo de Casos de Uso del Sistema.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MAN:</a:t>
            </a: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 Modelo de Análisis de Negocio.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4572375" y="3591073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Capas de Software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644925" y="4000648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Capa Específica:</a:t>
            </a: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 Ventas, Productos, Inventario (Lógica de Negocio).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Capa General:</a:t>
            </a: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 Seguridad, Logs, Autenticación.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350679" y="3591073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Patrón de Diseño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423225" y="4000648"/>
            <a:ext cx="29018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Implementación basada en </a:t>
            </a:r>
            <a:r>
              <a:rPr b="1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Modelo-Vista-Controlador (MVC)</a:t>
            </a: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 para separar la interfaz de usuario de la lógica de datos.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3387" y="295289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1538" y="295289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7463" y="2952898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Arquitectura de Análisis (Rhapsody)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3605"/>
            <a:ext cx="35242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653605"/>
            <a:ext cx="35242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653605"/>
            <a:ext cx="35242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3605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53605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653605"/>
            <a:ext cx="3524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14375" y="5177730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Modelo Conceptual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4476750" y="5177730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Modelo Lógico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239125" y="5177730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Modelo Físico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Modelado de Datos (PowerDesigner)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2653600"/>
            <a:ext cx="3524251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77175" y="2653600"/>
            <a:ext cx="35809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6250" y="2660375"/>
            <a:ext cx="3580951" cy="2405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7355"/>
            <a:ext cx="5334000" cy="3893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7735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714375" y="565398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Gestión en phpMyAdmin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Implementación de Base de Datos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77355"/>
            <a:ext cx="5334000" cy="3893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7735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6429375" y="5653980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Ge</a:t>
            </a:r>
            <a:r>
              <a:rPr lang="en-US" sz="1350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stión en DBeaver</a:t>
            </a:r>
            <a:endParaRPr/>
          </a:p>
        </p:txBody>
      </p:sp>
      <p:pic>
        <p:nvPicPr>
          <p:cNvPr id="225" name="Google Shape;22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125" y="2105650"/>
            <a:ext cx="5448725" cy="34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1675" y="2105650"/>
            <a:ext cx="5383800" cy="34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3314"/>
            <a:ext cx="3492400" cy="2842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703314"/>
            <a:ext cx="3492549" cy="2842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703314"/>
            <a:ext cx="3492400" cy="284202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794228" y="3712964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Logros Alcanzados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66775" y="4122539"/>
            <a:ext cx="29018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Automatización exitosa de ventas e inventario, reduciendo la operatividad manual y centralizando la información en tiempo real.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572375" y="3712964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Dificultades Superadas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644925" y="4122539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Definición de la arquitectura MVC y la transición precisa de requerimientos de negocio a modelos técnicos en PowerDesigner.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350679" y="3712964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Aprendizajes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423225" y="4122539"/>
            <a:ext cx="2901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Importancia crítica de las metodologías de análisis (MCUN/MCUS) y el diseño robusto de bases de datos relacionales.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3387" y="307478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307478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1275" y="3074789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Conclusiones del Proyecto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3314"/>
            <a:ext cx="3492400" cy="2842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703314"/>
            <a:ext cx="3492549" cy="2842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703314"/>
            <a:ext cx="3492400" cy="284202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794228" y="3712964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Para el Negocio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66775" y="4122539"/>
            <a:ext cx="29018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Adquirir hardware especializado (lectores de códigos de barras, impresoras térmicas) y capacitar al personal en el nuevo flujo digital.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4572375" y="3712964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Futuras Mejoras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4644925" y="4122539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Implementar módulo de "Pedidos en Mesa" mediante tablets/QR y desarrollar un Dashboard gerencial avanzado.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350679" y="3712964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Mantenimiento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8423225" y="4122539"/>
            <a:ext cx="29018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Establecer políticas de backups semanales y rotación periódica de credenciales de acceso para mayor seguridad.</a:t>
            </a:r>
            <a:endParaRPr/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3387" y="307478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307478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650" y="307478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Recomendaciones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3070621" y="1404937"/>
            <a:ext cx="6050756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Anexos y Recursos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3214687" y="2490787"/>
            <a:ext cx="576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Documentación técnica, manuales y código fuente disponibles en el repositorio.</a:t>
            </a:r>
            <a:endParaRPr/>
          </a:p>
        </p:txBody>
      </p:sp>
      <p:pic>
        <p:nvPicPr>
          <p:cNvPr descr="image.png" id="272" name="Google Shape;27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0750" y="2981775"/>
            <a:ext cx="56781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3303150" y="3172725"/>
            <a:ext cx="567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https://github.com/Seygo0708/SOFTWARE-CEVICHERIA</a:t>
            </a:r>
            <a:r>
              <a:rPr b="1"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descr="image.png" id="274" name="Google Shape;27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90137" y="3172730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4425" y="439191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4295775" y="4906267"/>
            <a:ext cx="1504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Códigos SQL</a:t>
            </a:r>
            <a:endParaRPr/>
          </a:p>
        </p:txBody>
      </p:sp>
      <p:pic>
        <p:nvPicPr>
          <p:cNvPr descr="image.png" id="277" name="Google Shape;27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19925" y="439191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6391275" y="4906267"/>
            <a:ext cx="1504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Manual de Usuario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/>
        </p:nvSpPr>
        <p:spPr>
          <a:xfrm>
            <a:off x="542500" y="610575"/>
            <a:ext cx="945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MUCHAS GRACIAS POR SU ATENCION 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600500" y="1566900"/>
            <a:ext cx="11049000" cy="285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4" title="png-clipart-software-development-custom-software-computer-software-web-development-mobile-app-development-others-miscellaneous-web-design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713" y="2223650"/>
            <a:ext cx="4170767" cy="370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155" y="2562675"/>
            <a:ext cx="6283170" cy="3028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